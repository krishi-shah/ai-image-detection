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2850"/>
                </a:solidFill>
                <a:latin typeface="Calibri"/>
              </a:rPr>
              <a:t>AI-Generated Image Detection</a:t>
            </a:r>
          </a:p>
          <a:p>
            <a:r>
              <a:rPr sz="1800" b="0">
                <a:solidFill>
                  <a:srgbClr val="3C3C3C"/>
                </a:solidFill>
                <a:latin typeface="Calibri"/>
              </a:rPr>
              <a:t>Evaluating Generalisation Across Generative Model Generations</a:t>
            </a:r>
          </a:p>
          <a:p>
            <a:r>
              <a:rPr sz="1400" b="0">
                <a:solidFill>
                  <a:srgbClr val="5A5A5A"/>
                </a:solidFill>
                <a:latin typeface="Calibri"/>
              </a:rPr>
              <a:t>Krishi Rajeshkumar Shah (220968905)  ·  Supervisor: Mona Nasery</a:t>
            </a:r>
          </a:p>
          <a:p>
            <a:r>
              <a:rPr sz="1400" b="0">
                <a:solidFill>
                  <a:srgbClr val="5A5A5A"/>
                </a:solidFill>
                <a:latin typeface="Calibri"/>
              </a:rPr>
              <a:t>EECS 4080 · York University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Detectors look strong on older benchmarks (CIFAKE, ProGAN-era sets).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Newer generators (SD3, Midjourney v6, GPT-4o) are more photorealistic.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Critical question: do existing detectors still work — and why/why not?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Research Question &amp; Hypothesis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RQ: How well do benchmark-trained detectors generalise to next-gen generators?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Hypothesis: models rely on generator-specific low-level artefacts.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Those artefacts weaken in newer models → measurable generalisation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Related Work &amp;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Wang 2020: GAN→GAN transfer with augmentation.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Corvi 2023: GAN↔diffusion gap + frequency analysis.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Bird &amp; Lotfi 2024: CIFAKE benchmark.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Our gap: multi-family eval + calibration + Grad-CAM + measure + resolution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Fine-tune EfficientNet-B3 on CIFAKE (SD v1.4).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Temperature scaling (T = 1.2189) + Grad-CAM (conv_head).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Evaluate StyleGAN, SD3/Flux, Midjourney v6, GPT-4o, Janus-Pro (300 each).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Diagnose GPT-4o with FFT, t-SNE, quantitative Grad-CAM.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Resolution-matched real-image control (notebook 07).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Baseline Results (CIFAKE)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Accuracy 96.96%  ·  AUC 0.9971  ·  ECE 0.0026 (pre-T).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FAKE recall 95.3% / REAL recall 98.6%.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Temperature scaling slightly raised ECE (NLL≠ECE).</a:t>
            </a:r>
          </a:p>
        </p:txBody>
      </p:sp>
      <p:pic>
        <p:nvPicPr>
          <p:cNvPr id="4" name="Picture 3" descr="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191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Calibration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Learned T = 1.2189 on validation set (L-BFGS).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Already well-calibrated in-distribution.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Under OOD generators, CIFAKE-fit T worsens ECE.</a:t>
            </a:r>
          </a:p>
        </p:txBody>
      </p:sp>
      <p:pic>
        <p:nvPicPr>
          <p:cNvPr id="4" name="Picture 3" descr="calibration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19343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Grad-CAM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REAL: diffuse texture attention, high confidence.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FAKE: localised artefact hotspots.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Suggests SD v1.4-specific cues — motivates generalisation study.</a:t>
            </a:r>
          </a:p>
        </p:txBody>
      </p:sp>
      <p:pic>
        <p:nvPicPr>
          <p:cNvPr id="4" name="Picture 3" descr="gradca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6383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Cross-Generator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Five families × 300 fakes + 300 CIFAKE reals.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Primary OOD metric: fake detection rate (not overall accuracy).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Caveat: resolution confound → Experiment 5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Cross-Generator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StyleGAN / MJ / Janus-Pro: ~94% fake detection.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SD3/Flux: 97% fake detection (strong transfer).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GPT-4o: 86.3% fake detection — only meaningful gap (4.8% acc. drop).</a:t>
            </a:r>
          </a:p>
        </p:txBody>
      </p:sp>
      <p:pic>
        <p:nvPicPr>
          <p:cNvPr id="4" name="Picture 3" descr="cross_generator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Hypothesis Revised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Naive protocol: transfer looks strong except GPT-4o.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Control: 93% of high-res reals called FAKE → confound.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After matching: broad gap (fake detection ~35–62%).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GPT-4o feature-absence remains a secondary native-protocol finding.</a:t>
            </a:r>
          </a:p>
        </p:txBody>
      </p:sp>
      <p:pic>
        <p:nvPicPr>
          <p:cNvPr id="4" name="Picture 3" descr="degradation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31432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Why GPT-4o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FFT: spectra closer to real photos.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t-SNE: embeddings near real cluster.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Grad-CAM metrics: not uniquely unfocused vs Midjourney/SD3.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Conclusion: feature absence, not attention failure.</a:t>
            </a:r>
          </a:p>
        </p:txBody>
      </p:sp>
      <p:pic>
        <p:nvPicPr>
          <p:cNvPr id="4" name="Picture 3" descr="feature_space_ts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Resolution Control — Confound Confirmed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A CIFAKE REAL: 1.7% predicted FAKE.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B Hi-res REAL: 93.0% predicted FAKE — not generator detection.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 Same photos →32×32: FAKE-rate falls to 37.3%.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Matched fakes collapse: Midjourney 94%→35%, StyleGAN 94%→38%.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Experiment 3 transfer was largely resolution-driven.</a:t>
            </a:r>
          </a:p>
        </p:txBody>
      </p:sp>
      <p:pic>
        <p:nvPicPr>
          <p:cNvPr id="4" name="Picture 3" descr="fake_rate_by_cond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029200" cy="2794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Gradio app: classification + calibrated confidence + Grad-CAM.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Samples: CIFAKE real/fake, StyleGAN, Midjourney, GPT-4o.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python app.py   or   python app.py --share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See reports/demo_script.md for the spoken runbook.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Single-generator training; 32×32 CIFAKE origin.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N=300/family; single backbone.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Future: multi-generator training, higher-res data, frequency features, recalibration.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4285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Strong CIFAKE detector in-distribution (96.96%, AUC 0.9971).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Naive cross-generator transfer was resolution-confounded.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Matched-resolution eval reveals a broad generalisation gap.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GPT-4o: feature absence under native protocol (FFT / t-SNE / Grad-CAM).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Low-res benchmarks need matched-resolution real controls.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E1E1E"/>
                </a:solidFill>
                <a:latin typeface="Calibri"/>
              </a:rPr>
              <a:t>• Code, tests (71), report, demo: github.com/krishi-shah/ai-image-detection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